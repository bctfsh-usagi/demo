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0" y="5623559"/>
            <a:ext cx="1072591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F1B5C"/>
                </a:solidFill>
              </a:rPr>
              <a:t>YAKSOK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6C63FF"/>
                </a:solidFill>
              </a:rPr>
              <a:t>Strategic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F2A"/>
                </a:solidFill>
              </a:rPr>
              <a:t>복약 루틴 자동화 · 환자-가족-의료진 동반자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8FA3"/>
                </a:solidFill>
              </a:rPr>
              <a:t>2026.03.25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8FA3"/>
                </a:solidFill>
              </a:rPr>
              <a:t>Confidential – For Internal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복약 이탈은 만성질환 관리 실패의 핵심 원인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6C63FF"/>
                </a:solidFill>
              </a:rPr>
              <a:t>64%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F2A"/>
                </a:solidFill>
              </a:rPr>
              <a:t>7일 내 복약 누락 2회+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8FA3"/>
                </a:solidFill>
              </a:rPr>
              <a:t>인터뷰 n=38, 2025.12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6C63FF"/>
                </a:solidFill>
              </a:rPr>
              <a:t>42%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F2A"/>
                </a:solidFill>
              </a:rPr>
              <a:t>가족과 복약 정보 단절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8FA3"/>
                </a:solidFill>
              </a:rPr>
              <a:t>SMS·전화 의존 사용자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6C63FF"/>
                </a:solidFill>
              </a:rPr>
              <a:t>3min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F2A"/>
                </a:solidFill>
              </a:rPr>
              <a:t>목표 루틴 세팅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8FA3"/>
                </a:solidFill>
              </a:rPr>
              <a:t>API 자동 추천 기준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세 가지 구조적 결함이 복약 이탈을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B5C"/>
                </a:solidFill>
              </a:rPr>
              <a:t>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Root Cause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1371600"/>
            <a:ext cx="0" cy="5029200"/>
          </a:xfrm>
          <a:prstGeom prst="line">
            <a:avLst/>
          </a:prstGeom>
          <a:ln w="10160">
            <a:solidFill>
              <a:srgbClr val="8B8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828800"/>
            <a:ext cx="5212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B5C"/>
                </a:solidFill>
              </a:rPr>
              <a:t>데이터 단절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채널마다 알림 로그가 따로 저장되어 추적 불가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212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단일 로그 부재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SMS/앱/수기가 분리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91840"/>
            <a:ext cx="5212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B5C"/>
                </a:solidFill>
              </a:rPr>
              <a:t>복잡한 세팅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사용자가 약·시간을 수작업으로 입력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291840"/>
            <a:ext cx="5212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API 미연동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자동화 없이 초기 세팅 10분+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5212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B5C"/>
                </a:solidFill>
              </a:rPr>
              <a:t>공유 부재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보호자·약사가 동일 정보를 실시간 확인 불가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52120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뷰 단절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가족용/의료진용 화면 없음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8076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63FF"/>
                </a:solidFill>
              </a:rPr>
              <a:t>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076" y="2103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데이터 일관성이 루틴 지속 여부를 좌우한다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65676" y="3200400"/>
            <a:ext cx="3657599" cy="0"/>
          </a:xfrm>
          <a:prstGeom prst="line">
            <a:avLst/>
          </a:prstGeom>
          <a:ln w="19050">
            <a:solidFill>
              <a:srgbClr val="6C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5276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—  모든 알림이 하나의 타임라인에 저장되어야 추적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—  약 정보 자동화가 없으면 초기 진입 장벽이 너무 높다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—  보호자·약사의 실시간 뷰가 루틴 지속을 외부에서 지지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세 개의 핵심 레이어로 루틴을 완성한다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1B5C"/>
                </a:solidFill>
              </a:rPr>
              <a:t>Auto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</a:rPr>
              <a:t>약 정보 API + 이미지 인식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3분 세팅 · 자동 복용 주기 추천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65760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1B5C"/>
                </a:solidFill>
              </a:rPr>
              <a:t>Shared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</a:rPr>
              <a:t>웹·카톡·문자 통합 로그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알림과 체크가 하나의 피드로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65760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65760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1B5C"/>
                </a:solidFill>
              </a:rPr>
              <a:t>Care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</a:rPr>
              <a:t>누락/지연 리포트 자동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가족·약사·보험사 공유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등록부터 리포트까지, 한 화면에서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737360"/>
            <a:ext cx="21031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21031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B5C"/>
                </a:solidFill>
              </a:rPr>
              <a:t>약 검색·촬영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이름/사진으로 자동 매칭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23160" y="3794760"/>
            <a:ext cx="237744" cy="0"/>
          </a:xfrm>
          <a:prstGeom prst="line">
            <a:avLst/>
          </a:prstGeom>
          <a:ln w="15240">
            <a:solidFill>
              <a:srgbClr val="6C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60904" y="1737360"/>
            <a:ext cx="21031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0904" y="1737360"/>
            <a:ext cx="21031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B5C"/>
                </a:solidFill>
              </a:rPr>
              <a:t>루틴 세팅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971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복용 주기·시간 자동 추천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64024" y="3794760"/>
            <a:ext cx="237744" cy="0"/>
          </a:xfrm>
          <a:prstGeom prst="line">
            <a:avLst/>
          </a:prstGeom>
          <a:ln w="15240">
            <a:solidFill>
              <a:srgbClr val="6C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01768" y="1737360"/>
            <a:ext cx="21031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01768" y="1737360"/>
            <a:ext cx="21031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4728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B5C"/>
                </a:solidFill>
              </a:rPr>
              <a:t>멀티채널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971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웹·카톡·문자 동시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794760"/>
            <a:ext cx="237743" cy="0"/>
          </a:xfrm>
          <a:prstGeom prst="line">
            <a:avLst/>
          </a:prstGeom>
          <a:ln w="15240">
            <a:solidFill>
              <a:srgbClr val="6C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42631" y="1737360"/>
            <a:ext cx="21031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2631" y="1737360"/>
            <a:ext cx="21031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B5C"/>
                </a:solidFill>
              </a:rPr>
              <a:t>체크 &amp; 로그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971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단일 타임라인에 기록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45751" y="3794760"/>
            <a:ext cx="237745" cy="0"/>
          </a:xfrm>
          <a:prstGeom prst="line">
            <a:avLst/>
          </a:prstGeom>
          <a:ln w="15240">
            <a:solidFill>
              <a:srgbClr val="6C6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83496" y="1737360"/>
            <a:ext cx="21031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83496" y="1737360"/>
            <a:ext cx="21031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06456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0656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1B5C"/>
                </a:solidFill>
              </a:rPr>
              <a:t>리포트 공유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2971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가족·약사에게 자동 전달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구독 · B2B API · 보험 리포트 세 축의 수익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1B5C"/>
                </a:solidFill>
              </a:rPr>
              <a:t>Premium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₩9,900/월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가족 3인 공유 · 전문 약사 상담권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1B5C"/>
                </a:solidFill>
              </a:rPr>
              <a:t>Clinic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B2B 월과금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병원/약국 EMR 연동 · 처방 자동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737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1B5C"/>
                </a:solidFill>
              </a:rPr>
              <a:t>Insight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94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CPC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F2A"/>
                </a:solidFill>
              </a:rPr>
              <a:t>제약사 타겟 정보 콘텐츠 슬롯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Roadmap &amp; Next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12주 안에 MVP → Beta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45720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  W1-3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약 정보 API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이미지 인식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복용 주기 자동 추천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  W4-6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카톡/문자 알림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가족 뷰 &amp; 공유 피드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체크 로그 타임라인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6576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solidFill>
            <a:srgbClr val="1F1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3  W7-12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리포트 자동화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베타 사용자 50명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·  보험사/클리닉 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B5C"/>
                </a:solidFill>
              </a:rPr>
              <a:t>Next Ask: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F2A"/>
                </a:solidFill>
              </a:rPr>
              <a:t>약 정보 API 키 발급  /  베타 사용자 리크루팅  /  보험사 파트너 미팅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